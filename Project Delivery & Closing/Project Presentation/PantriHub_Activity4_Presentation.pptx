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5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5890D7-05C4-0ECC-E5ED-3A8B8F7A7084}" v="11" dt="2026-04-08T19:22:00.149"/>
    <p1510:client id="{E4C2649E-7842-A1DF-7E1F-865D29105F6B}" v="1" dt="2026-04-08T02:03:55.8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68518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PantriHub</a:t>
            </a:r>
            <a:endParaRPr lang="en-US" sz="520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Inventory Platform for Food Banks</a:t>
            </a:r>
            <a:endParaRPr lang="en-US" sz="2200"/>
          </a:p>
        </p:txBody>
      </p:sp>
      <p:sp>
        <p:nvSpPr>
          <p:cNvPr id="6" name="Shape 4"/>
          <p:cNvSpPr/>
          <p:nvPr/>
        </p:nvSpPr>
        <p:spPr>
          <a:xfrm>
            <a:off x="731520" y="2926080"/>
            <a:ext cx="1371600" cy="36576"/>
          </a:xfrm>
          <a:prstGeom prst="rect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31520" y="3291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4: Project Delivery &amp; Closing</a:t>
            </a:r>
            <a:endParaRPr lang="en-US" sz="1600"/>
          </a:p>
        </p:txBody>
      </p:sp>
      <p:sp>
        <p:nvSpPr>
          <p:cNvPr id="8" name="Text 6"/>
          <p:cNvSpPr/>
          <p:nvPr/>
        </p:nvSpPr>
        <p:spPr>
          <a:xfrm>
            <a:off x="731520" y="3749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 281  |  April 8, 2026</a:t>
            </a:r>
            <a:endParaRPr lang="en-US" sz="1400"/>
          </a:p>
        </p:txBody>
      </p:sp>
      <p:sp>
        <p:nvSpPr>
          <p:cNvPr id="9" name="Text 7"/>
          <p:cNvSpPr/>
          <p:nvPr/>
        </p:nvSpPr>
        <p:spPr>
          <a:xfrm>
            <a:off x="73152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Shivam  |  Ethan  |  Thomas  |  Bushra  |  Ishan</a:t>
            </a:r>
            <a:endParaRPr lang="en-US" sz="13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1E3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Why</a:t>
            </a:r>
            <a:endParaRPr lang="en-US" sz="360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768096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005840" y="1371600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46304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11680" y="128016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1E3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Isolated Inventories</a:t>
            </a:r>
            <a:endParaRPr lang="en-US" sz="1800"/>
          </a:p>
        </p:txBody>
      </p:sp>
      <p:sp>
        <p:nvSpPr>
          <p:cNvPr id="8" name="Text 5"/>
          <p:cNvSpPr/>
          <p:nvPr/>
        </p:nvSpPr>
        <p:spPr>
          <a:xfrm>
            <a:off x="2011680" y="16916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666666"/>
                </a:solidFill>
                <a:latin typeface="Calibri"/>
                <a:ea typeface="Calibri"/>
                <a:cs typeface="Calibri"/>
              </a:rPr>
              <a:t>Food banks in Canada can't see what other locations have in stock</a:t>
            </a:r>
            <a:endParaRPr lang="en-US" sz="1400" dirty="0">
              <a:latin typeface="Calibri"/>
              <a:ea typeface="Calibri"/>
              <a:cs typeface="Calibri"/>
            </a:endParaRPr>
          </a:p>
        </p:txBody>
      </p:sp>
      <p:sp>
        <p:nvSpPr>
          <p:cNvPr id="9" name="Shape 6"/>
          <p:cNvSpPr/>
          <p:nvPr/>
        </p:nvSpPr>
        <p:spPr>
          <a:xfrm>
            <a:off x="731520" y="2377440"/>
            <a:ext cx="768096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1005840" y="2560320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260604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011680" y="246888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1E3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Waste &amp; Shortages</a:t>
            </a:r>
            <a:endParaRPr lang="en-US" sz="1800"/>
          </a:p>
        </p:txBody>
      </p:sp>
      <p:sp>
        <p:nvSpPr>
          <p:cNvPr id="13" name="Text 9"/>
          <p:cNvSpPr/>
          <p:nvPr/>
        </p:nvSpPr>
        <p:spPr>
          <a:xfrm>
            <a:off x="2011680" y="28803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Surplus spoils at one site while another location runs out of the same item</a:t>
            </a:r>
            <a:endParaRPr lang="en-US" sz="1400"/>
          </a:p>
        </p:txBody>
      </p:sp>
      <p:sp>
        <p:nvSpPr>
          <p:cNvPr id="14" name="Shape 10"/>
          <p:cNvSpPr/>
          <p:nvPr/>
        </p:nvSpPr>
        <p:spPr>
          <a:xfrm>
            <a:off x="731520" y="3566160"/>
            <a:ext cx="768096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1005840" y="3749040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" y="384048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011680" y="365760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1E3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Coordination Tool</a:t>
            </a:r>
            <a:endParaRPr lang="en-US" sz="1800"/>
          </a:p>
        </p:txBody>
      </p:sp>
      <p:sp>
        <p:nvSpPr>
          <p:cNvPr id="18" name="Text 13"/>
          <p:cNvSpPr/>
          <p:nvPr/>
        </p:nvSpPr>
        <p:spPr>
          <a:xfrm>
            <a:off x="2011680" y="40690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rely on phone calls and spreadsheets to share inventory info across sites</a:t>
            </a:r>
            <a:endParaRPr lang="en-US" sz="1400"/>
          </a:p>
        </p:txBody>
      </p:sp>
      <p:sp>
        <p:nvSpPr>
          <p:cNvPr id="19" name="Text 14"/>
          <p:cNvSpPr/>
          <p:nvPr/>
        </p:nvSpPr>
        <p:spPr>
          <a:xfrm>
            <a:off x="731520" y="45720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through interviews with food banks in Regina, Calgary, and Vancouver</a:t>
            </a:r>
            <a:endParaRPr lang="en-US" sz="1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1E3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Who</a:t>
            </a:r>
            <a:endParaRPr lang="en-US" sz="3600"/>
          </a:p>
        </p:txBody>
      </p:sp>
      <p:sp>
        <p:nvSpPr>
          <p:cNvPr id="4" name="Shape 2"/>
          <p:cNvSpPr/>
          <p:nvPr/>
        </p:nvSpPr>
        <p:spPr>
          <a:xfrm>
            <a:off x="731520" y="896112"/>
            <a:ext cx="7680960" cy="45720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22960" y="89611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</a:t>
            </a:r>
            <a:endParaRPr lang="en-US" sz="1300"/>
          </a:p>
        </p:txBody>
      </p:sp>
      <p:sp>
        <p:nvSpPr>
          <p:cNvPr id="6" name="Text 4"/>
          <p:cNvSpPr/>
          <p:nvPr/>
        </p:nvSpPr>
        <p:spPr>
          <a:xfrm>
            <a:off x="3474720" y="89611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300"/>
          </a:p>
        </p:txBody>
      </p:sp>
      <p:sp>
        <p:nvSpPr>
          <p:cNvPr id="7" name="Text 5"/>
          <p:cNvSpPr/>
          <p:nvPr/>
        </p:nvSpPr>
        <p:spPr>
          <a:xfrm>
            <a:off x="6400800" y="89611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endParaRPr lang="en-US" sz="1300"/>
          </a:p>
        </p:txBody>
      </p:sp>
      <p:sp>
        <p:nvSpPr>
          <p:cNvPr id="8" name="Text 6"/>
          <p:cNvSpPr/>
          <p:nvPr/>
        </p:nvSpPr>
        <p:spPr>
          <a:xfrm>
            <a:off x="7406640" y="89611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</a:t>
            </a:r>
            <a:endParaRPr lang="en-US" sz="1300"/>
          </a:p>
        </p:txBody>
      </p:sp>
      <p:sp>
        <p:nvSpPr>
          <p:cNvPr id="9" name="Shape 7"/>
          <p:cNvSpPr/>
          <p:nvPr/>
        </p:nvSpPr>
        <p:spPr>
          <a:xfrm>
            <a:off x="731520" y="1353312"/>
            <a:ext cx="768096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22960" y="135331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Bank Management</a:t>
            </a:r>
            <a:endParaRPr lang="en-US" sz="1300"/>
          </a:p>
        </p:txBody>
      </p:sp>
      <p:sp>
        <p:nvSpPr>
          <p:cNvPr id="11" name="Text 9"/>
          <p:cNvSpPr/>
          <p:nvPr/>
        </p:nvSpPr>
        <p:spPr>
          <a:xfrm>
            <a:off x="3474720" y="135331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Owners &amp; Decision Makers</a:t>
            </a:r>
            <a:endParaRPr lang="en-US" sz="1300"/>
          </a:p>
        </p:txBody>
      </p:sp>
      <p:sp>
        <p:nvSpPr>
          <p:cNvPr id="12" name="Text 10"/>
          <p:cNvSpPr/>
          <p:nvPr/>
        </p:nvSpPr>
        <p:spPr>
          <a:xfrm>
            <a:off x="6400800" y="1353312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300"/>
          </a:p>
        </p:txBody>
      </p:sp>
      <p:sp>
        <p:nvSpPr>
          <p:cNvPr id="13" name="Text 11"/>
          <p:cNvSpPr/>
          <p:nvPr/>
        </p:nvSpPr>
        <p:spPr>
          <a:xfrm>
            <a:off x="7406640" y="1353312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300"/>
          </a:p>
        </p:txBody>
      </p:sp>
      <p:sp>
        <p:nvSpPr>
          <p:cNvPr id="14" name="Shape 12"/>
          <p:cNvSpPr/>
          <p:nvPr/>
        </p:nvSpPr>
        <p:spPr>
          <a:xfrm>
            <a:off x="731520" y="1856232"/>
            <a:ext cx="7680960" cy="502920"/>
          </a:xfrm>
          <a:prstGeom prst="rect">
            <a:avLst/>
          </a:prstGeom>
          <a:solidFill>
            <a:srgbClr val="D4E6B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822960" y="18562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Bank Staff</a:t>
            </a:r>
            <a:endParaRPr lang="en-US" sz="1300"/>
          </a:p>
        </p:txBody>
      </p:sp>
      <p:sp>
        <p:nvSpPr>
          <p:cNvPr id="16" name="Text 14"/>
          <p:cNvSpPr/>
          <p:nvPr/>
        </p:nvSpPr>
        <p:spPr>
          <a:xfrm>
            <a:off x="3474720" y="185623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Users of the System</a:t>
            </a:r>
            <a:endParaRPr lang="en-US" sz="1300"/>
          </a:p>
        </p:txBody>
      </p:sp>
      <p:sp>
        <p:nvSpPr>
          <p:cNvPr id="17" name="Text 15"/>
          <p:cNvSpPr/>
          <p:nvPr/>
        </p:nvSpPr>
        <p:spPr>
          <a:xfrm>
            <a:off x="6400800" y="1856232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300"/>
          </a:p>
        </p:txBody>
      </p:sp>
      <p:sp>
        <p:nvSpPr>
          <p:cNvPr id="18" name="Text 16"/>
          <p:cNvSpPr/>
          <p:nvPr/>
        </p:nvSpPr>
        <p:spPr>
          <a:xfrm>
            <a:off x="7406640" y="1856232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300"/>
          </a:p>
        </p:txBody>
      </p:sp>
      <p:sp>
        <p:nvSpPr>
          <p:cNvPr id="19" name="Shape 17"/>
          <p:cNvSpPr/>
          <p:nvPr/>
        </p:nvSpPr>
        <p:spPr>
          <a:xfrm>
            <a:off x="731520" y="2359152"/>
            <a:ext cx="768096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822960" y="235915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Bank Clients</a:t>
            </a:r>
            <a:endParaRPr lang="en-US" sz="1300"/>
          </a:p>
        </p:txBody>
      </p:sp>
      <p:sp>
        <p:nvSpPr>
          <p:cNvPr id="21" name="Text 19"/>
          <p:cNvSpPr/>
          <p:nvPr/>
        </p:nvSpPr>
        <p:spPr>
          <a:xfrm>
            <a:off x="3474720" y="235915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Beneficiaries</a:t>
            </a:r>
            <a:endParaRPr lang="en-US" sz="1300"/>
          </a:p>
        </p:txBody>
      </p:sp>
      <p:sp>
        <p:nvSpPr>
          <p:cNvPr id="22" name="Text 20"/>
          <p:cNvSpPr/>
          <p:nvPr/>
        </p:nvSpPr>
        <p:spPr>
          <a:xfrm>
            <a:off x="6400800" y="2359152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300"/>
          </a:p>
        </p:txBody>
      </p:sp>
      <p:sp>
        <p:nvSpPr>
          <p:cNvPr id="23" name="Text 21"/>
          <p:cNvSpPr/>
          <p:nvPr/>
        </p:nvSpPr>
        <p:spPr>
          <a:xfrm>
            <a:off x="7406640" y="2359152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300"/>
          </a:p>
        </p:txBody>
      </p:sp>
      <p:sp>
        <p:nvSpPr>
          <p:cNvPr id="24" name="Shape 22"/>
          <p:cNvSpPr/>
          <p:nvPr/>
        </p:nvSpPr>
        <p:spPr>
          <a:xfrm>
            <a:off x="731520" y="2862072"/>
            <a:ext cx="7680960" cy="502920"/>
          </a:xfrm>
          <a:prstGeom prst="rect">
            <a:avLst/>
          </a:prstGeom>
          <a:solidFill>
            <a:srgbClr val="D4E6B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822960" y="286207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Tim Maciag</a:t>
            </a:r>
            <a:endParaRPr lang="en-US" sz="1300"/>
          </a:p>
        </p:txBody>
      </p:sp>
      <p:sp>
        <p:nvSpPr>
          <p:cNvPr id="26" name="Text 24"/>
          <p:cNvSpPr/>
          <p:nvPr/>
        </p:nvSpPr>
        <p:spPr>
          <a:xfrm>
            <a:off x="3474720" y="286207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Sponsor (ENSE 281)</a:t>
            </a:r>
            <a:endParaRPr lang="en-US" sz="1300"/>
          </a:p>
        </p:txBody>
      </p:sp>
      <p:sp>
        <p:nvSpPr>
          <p:cNvPr id="27" name="Text 25"/>
          <p:cNvSpPr/>
          <p:nvPr/>
        </p:nvSpPr>
        <p:spPr>
          <a:xfrm>
            <a:off x="6400800" y="2862072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300"/>
          </a:p>
        </p:txBody>
      </p:sp>
      <p:sp>
        <p:nvSpPr>
          <p:cNvPr id="28" name="Text 26"/>
          <p:cNvSpPr/>
          <p:nvPr/>
        </p:nvSpPr>
        <p:spPr>
          <a:xfrm>
            <a:off x="7406640" y="2862072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300"/>
          </a:p>
        </p:txBody>
      </p:sp>
      <p:sp>
        <p:nvSpPr>
          <p:cNvPr id="29" name="Text 27"/>
          <p:cNvSpPr/>
          <p:nvPr/>
        </p:nvSpPr>
        <p:spPr>
          <a:xfrm>
            <a:off x="731520" y="34747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1E3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Team</a:t>
            </a:r>
            <a:endParaRPr lang="en-US" sz="2000"/>
          </a:p>
        </p:txBody>
      </p:sp>
      <p:sp>
        <p:nvSpPr>
          <p:cNvPr id="30" name="Shape 28"/>
          <p:cNvSpPr/>
          <p:nvPr/>
        </p:nvSpPr>
        <p:spPr>
          <a:xfrm>
            <a:off x="731520" y="3977640"/>
            <a:ext cx="141732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731520" y="4005072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1E3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Shivam</a:t>
            </a:r>
            <a:endParaRPr lang="en-US" sz="1400"/>
          </a:p>
        </p:txBody>
      </p:sp>
      <p:sp>
        <p:nvSpPr>
          <p:cNvPr id="32" name="Text 30"/>
          <p:cNvSpPr/>
          <p:nvPr/>
        </p:nvSpPr>
        <p:spPr>
          <a:xfrm>
            <a:off x="731520" y="4370832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 / Flex Dev</a:t>
            </a:r>
            <a:endParaRPr lang="en-US" sz="1000"/>
          </a:p>
        </p:txBody>
      </p:sp>
      <p:sp>
        <p:nvSpPr>
          <p:cNvPr id="33" name="Shape 31"/>
          <p:cNvSpPr/>
          <p:nvPr/>
        </p:nvSpPr>
        <p:spPr>
          <a:xfrm>
            <a:off x="2331720" y="3977640"/>
            <a:ext cx="141732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2331720" y="4005072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1E3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Ethan</a:t>
            </a:r>
            <a:endParaRPr lang="en-US" sz="1400"/>
          </a:p>
        </p:txBody>
      </p:sp>
      <p:sp>
        <p:nvSpPr>
          <p:cNvPr id="35" name="Text 33"/>
          <p:cNvSpPr/>
          <p:nvPr/>
        </p:nvSpPr>
        <p:spPr>
          <a:xfrm>
            <a:off x="2331720" y="4370832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Back-End / Coordinator</a:t>
            </a:r>
            <a:endParaRPr lang="en-US" sz="1000"/>
          </a:p>
        </p:txBody>
      </p:sp>
      <p:sp>
        <p:nvSpPr>
          <p:cNvPr id="36" name="Shape 34"/>
          <p:cNvSpPr/>
          <p:nvPr/>
        </p:nvSpPr>
        <p:spPr>
          <a:xfrm>
            <a:off x="3931920" y="3977640"/>
            <a:ext cx="141732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3931920" y="4005072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1E3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Thomas</a:t>
            </a:r>
            <a:endParaRPr lang="en-US" sz="1400"/>
          </a:p>
        </p:txBody>
      </p:sp>
      <p:sp>
        <p:nvSpPr>
          <p:cNvPr id="38" name="Text 36"/>
          <p:cNvSpPr/>
          <p:nvPr/>
        </p:nvSpPr>
        <p:spPr>
          <a:xfrm>
            <a:off x="3931920" y="4370832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Back-End Dev</a:t>
            </a:r>
            <a:endParaRPr lang="en-US" sz="1000"/>
          </a:p>
        </p:txBody>
      </p:sp>
      <p:sp>
        <p:nvSpPr>
          <p:cNvPr id="39" name="Shape 37"/>
          <p:cNvSpPr/>
          <p:nvPr/>
        </p:nvSpPr>
        <p:spPr>
          <a:xfrm>
            <a:off x="5532120" y="3977640"/>
            <a:ext cx="141732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5532120" y="4005072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1E3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Bushra</a:t>
            </a:r>
            <a:endParaRPr lang="en-US" sz="1400"/>
          </a:p>
        </p:txBody>
      </p:sp>
      <p:sp>
        <p:nvSpPr>
          <p:cNvPr id="41" name="Text 39"/>
          <p:cNvSpPr/>
          <p:nvPr/>
        </p:nvSpPr>
        <p:spPr>
          <a:xfrm>
            <a:off x="5532120" y="4370832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 / Content</a:t>
            </a:r>
            <a:endParaRPr lang="en-US" sz="1000"/>
          </a:p>
        </p:txBody>
      </p:sp>
      <p:sp>
        <p:nvSpPr>
          <p:cNvPr id="42" name="Shape 40"/>
          <p:cNvSpPr/>
          <p:nvPr/>
        </p:nvSpPr>
        <p:spPr>
          <a:xfrm>
            <a:off x="7132320" y="3977640"/>
            <a:ext cx="141732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7132320" y="4005072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1E3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Ishan</a:t>
            </a:r>
            <a:endParaRPr lang="en-US" sz="1400"/>
          </a:p>
        </p:txBody>
      </p:sp>
      <p:sp>
        <p:nvSpPr>
          <p:cNvPr id="44" name="Text 42"/>
          <p:cNvSpPr/>
          <p:nvPr/>
        </p:nvSpPr>
        <p:spPr>
          <a:xfrm>
            <a:off x="7132320" y="4370832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 Dev</a:t>
            </a:r>
            <a:endParaRPr lang="en-US"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1E3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How: Architecture &amp; Stack</a:t>
            </a:r>
            <a:endParaRPr lang="en-US" sz="360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246888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2468880" cy="64008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28016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18872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VIEW</a:t>
            </a:r>
            <a:endParaRPr lang="en-US" sz="1600"/>
          </a:p>
        </p:txBody>
      </p:sp>
      <p:sp>
        <p:nvSpPr>
          <p:cNvPr id="8" name="Text 5"/>
          <p:cNvSpPr/>
          <p:nvPr/>
        </p:nvSpPr>
        <p:spPr>
          <a:xfrm>
            <a:off x="914400" y="2011680"/>
            <a:ext cx="2103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CSS / Bootstrap</a:t>
            </a:r>
            <a:endParaRPr lang="en-US" sz="13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EJS Templates</a:t>
            </a:r>
            <a:endParaRPr lang="en-US" sz="13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UI</a:t>
            </a:r>
            <a:endParaRPr lang="en-US" sz="1300"/>
          </a:p>
        </p:txBody>
      </p:sp>
      <p:sp>
        <p:nvSpPr>
          <p:cNvPr id="9" name="Shape 6"/>
          <p:cNvSpPr/>
          <p:nvPr/>
        </p:nvSpPr>
        <p:spPr>
          <a:xfrm>
            <a:off x="3474720" y="1188720"/>
            <a:ext cx="246888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3474720" y="1188720"/>
            <a:ext cx="2468880" cy="640080"/>
          </a:xfrm>
          <a:prstGeom prst="rect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880" y="128016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069080" y="118872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CONTROLLER</a:t>
            </a:r>
            <a:endParaRPr lang="en-US" sz="1600"/>
          </a:p>
        </p:txBody>
      </p:sp>
      <p:sp>
        <p:nvSpPr>
          <p:cNvPr id="13" name="Text 9"/>
          <p:cNvSpPr/>
          <p:nvPr/>
        </p:nvSpPr>
        <p:spPr>
          <a:xfrm>
            <a:off x="3657600" y="2011680"/>
            <a:ext cx="2103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Node.js</a:t>
            </a:r>
            <a:endParaRPr lang="en-US" sz="1300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Handlers</a:t>
            </a:r>
            <a:endParaRPr lang="en-US" sz="13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</a:t>
            </a:r>
            <a:endParaRPr lang="en-US" sz="1300"/>
          </a:p>
        </p:txBody>
      </p:sp>
      <p:sp>
        <p:nvSpPr>
          <p:cNvPr id="14" name="Shape 10"/>
          <p:cNvSpPr/>
          <p:nvPr/>
        </p:nvSpPr>
        <p:spPr>
          <a:xfrm>
            <a:off x="6217920" y="1188720"/>
            <a:ext cx="246888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6217920" y="1188720"/>
            <a:ext cx="2468880" cy="640080"/>
          </a:xfrm>
          <a:prstGeom prst="rect">
            <a:avLst/>
          </a:prstGeom>
          <a:solidFill>
            <a:srgbClr val="1E3F1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128016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812280" y="118872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</a:t>
            </a:r>
            <a:endParaRPr lang="en-US" sz="1600"/>
          </a:p>
        </p:txBody>
      </p:sp>
      <p:sp>
        <p:nvSpPr>
          <p:cNvPr id="18" name="Text 13"/>
          <p:cNvSpPr/>
          <p:nvPr/>
        </p:nvSpPr>
        <p:spPr>
          <a:xfrm>
            <a:off x="6400800" y="2011680"/>
            <a:ext cx="2103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MongoDB</a:t>
            </a:r>
            <a:endParaRPr lang="en-US" sz="1300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Schemas</a:t>
            </a:r>
            <a:endParaRPr lang="en-US" sz="13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Operations</a:t>
            </a:r>
            <a:endParaRPr lang="en-US" sz="1300"/>
          </a:p>
        </p:txBody>
      </p:sp>
      <p:sp>
        <p:nvSpPr>
          <p:cNvPr id="19" name="Text 14"/>
          <p:cNvSpPr/>
          <p:nvPr/>
        </p:nvSpPr>
        <p:spPr>
          <a:xfrm>
            <a:off x="3200400" y="22860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/>
          </a:p>
        </p:txBody>
      </p:sp>
      <p:sp>
        <p:nvSpPr>
          <p:cNvPr id="20" name="Text 15"/>
          <p:cNvSpPr/>
          <p:nvPr/>
        </p:nvSpPr>
        <p:spPr>
          <a:xfrm>
            <a:off x="5943600" y="22860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/>
          </a:p>
        </p:txBody>
      </p:sp>
      <p:sp>
        <p:nvSpPr>
          <p:cNvPr id="21" name="Text 16"/>
          <p:cNvSpPr/>
          <p:nvPr/>
        </p:nvSpPr>
        <p:spPr>
          <a:xfrm>
            <a:off x="731520" y="44805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github.com/bshra7/Inventory-Management-System-for-Food-Banks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E3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Journey: Planning to Delivery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1097280" y="2377440"/>
            <a:ext cx="6949440" cy="0"/>
          </a:xfrm>
          <a:prstGeom prst="line">
            <a:avLst/>
          </a:prstGeom>
          <a:noFill/>
          <a:ln w="381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554480" y="214884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55448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/>
          </a:p>
        </p:txBody>
      </p:sp>
      <p:sp>
        <p:nvSpPr>
          <p:cNvPr id="7" name="Text 5"/>
          <p:cNvSpPr/>
          <p:nvPr/>
        </p:nvSpPr>
        <p:spPr>
          <a:xfrm>
            <a:off x="914400" y="11887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400" b="1">
                <a:solidFill>
                  <a:srgbClr val="1E3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&amp;</a:t>
            </a:r>
            <a:endParaRPr lang="en-US" sz="1400"/>
          </a:p>
          <a:p>
            <a:pPr marL="0" indent="0" algn="ctr">
              <a:buNone/>
            </a:pPr>
            <a:r>
              <a:rPr lang="en-US" sz="1400" b="1">
                <a:solidFill>
                  <a:srgbClr val="1E3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Planning</a:t>
            </a:r>
            <a:endParaRPr lang="en-US" sz="1400"/>
          </a:p>
        </p:txBody>
      </p:sp>
      <p:sp>
        <p:nvSpPr>
          <p:cNvPr id="8" name="Text 6"/>
          <p:cNvSpPr/>
          <p:nvPr/>
        </p:nvSpPr>
        <p:spPr>
          <a:xfrm>
            <a:off x="914400" y="1874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Jan-Feb</a:t>
            </a:r>
            <a:endParaRPr lang="en-US" sz="1000"/>
          </a:p>
        </p:txBody>
      </p:sp>
      <p:sp>
        <p:nvSpPr>
          <p:cNvPr id="9" name="Text 7"/>
          <p:cNvSpPr/>
          <p:nvPr/>
        </p:nvSpPr>
        <p:spPr>
          <a:xfrm>
            <a:off x="822960" y="283464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interviews, requirements (FR-01 to FR-14), stakeholder docs</a:t>
            </a:r>
            <a:endParaRPr lang="en-US" sz="1100"/>
          </a:p>
        </p:txBody>
      </p:sp>
      <p:sp>
        <p:nvSpPr>
          <p:cNvPr id="10" name="Shape 8"/>
          <p:cNvSpPr/>
          <p:nvPr/>
        </p:nvSpPr>
        <p:spPr>
          <a:xfrm>
            <a:off x="3474720" y="214884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47472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/>
          </a:p>
        </p:txBody>
      </p:sp>
      <p:sp>
        <p:nvSpPr>
          <p:cNvPr id="12" name="Text 10"/>
          <p:cNvSpPr/>
          <p:nvPr/>
        </p:nvSpPr>
        <p:spPr>
          <a:xfrm>
            <a:off x="2834640" y="11887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400" b="1">
                <a:solidFill>
                  <a:srgbClr val="1E3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Sprint 1</a:t>
            </a:r>
            <a:endParaRPr lang="en-US" sz="1400"/>
          </a:p>
        </p:txBody>
      </p:sp>
      <p:sp>
        <p:nvSpPr>
          <p:cNvPr id="13" name="Text 11"/>
          <p:cNvSpPr/>
          <p:nvPr/>
        </p:nvSpPr>
        <p:spPr>
          <a:xfrm>
            <a:off x="2834640" y="1874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10-16</a:t>
            </a:r>
            <a:endParaRPr lang="en-US" sz="1000"/>
          </a:p>
        </p:txBody>
      </p:sp>
      <p:sp>
        <p:nvSpPr>
          <p:cNvPr id="14" name="Text 12"/>
          <p:cNvSpPr/>
          <p:nvPr/>
        </p:nvSpPr>
        <p:spPr>
          <a:xfrm>
            <a:off x="2743200" y="283464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system (FR-01-03), full inventory CRUD (FR-04-07)</a:t>
            </a:r>
            <a:endParaRPr lang="en-US" sz="1100"/>
          </a:p>
        </p:txBody>
      </p:sp>
      <p:sp>
        <p:nvSpPr>
          <p:cNvPr id="15" name="Shape 13"/>
          <p:cNvSpPr/>
          <p:nvPr/>
        </p:nvSpPr>
        <p:spPr>
          <a:xfrm>
            <a:off x="5394960" y="214884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39496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/>
          </a:p>
        </p:txBody>
      </p:sp>
      <p:sp>
        <p:nvSpPr>
          <p:cNvPr id="17" name="Text 15"/>
          <p:cNvSpPr/>
          <p:nvPr/>
        </p:nvSpPr>
        <p:spPr>
          <a:xfrm>
            <a:off x="4754880" y="11887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400" b="1">
                <a:solidFill>
                  <a:srgbClr val="1E3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Sprint 2</a:t>
            </a:r>
            <a:endParaRPr lang="en-US" sz="1400"/>
          </a:p>
        </p:txBody>
      </p:sp>
      <p:sp>
        <p:nvSpPr>
          <p:cNvPr id="18" name="Text 16"/>
          <p:cNvSpPr/>
          <p:nvPr/>
        </p:nvSpPr>
        <p:spPr>
          <a:xfrm>
            <a:off x="4754880" y="1874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17-23</a:t>
            </a:r>
            <a:endParaRPr lang="en-US" sz="1000"/>
          </a:p>
        </p:txBody>
      </p:sp>
      <p:sp>
        <p:nvSpPr>
          <p:cNvPr id="19" name="Text 17"/>
          <p:cNvSpPr/>
          <p:nvPr/>
        </p:nvSpPr>
        <p:spPr>
          <a:xfrm>
            <a:off x="4663440" y="283464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dashboard (FR-08-10), search &amp; filter (FR-11-14)</a:t>
            </a:r>
            <a:endParaRPr lang="en-US" sz="1100"/>
          </a:p>
        </p:txBody>
      </p:sp>
      <p:sp>
        <p:nvSpPr>
          <p:cNvPr id="20" name="Shape 18"/>
          <p:cNvSpPr/>
          <p:nvPr/>
        </p:nvSpPr>
        <p:spPr>
          <a:xfrm>
            <a:off x="7315200" y="214884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31520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/>
          </a:p>
        </p:txBody>
      </p:sp>
      <p:sp>
        <p:nvSpPr>
          <p:cNvPr id="22" name="Text 20"/>
          <p:cNvSpPr/>
          <p:nvPr/>
        </p:nvSpPr>
        <p:spPr>
          <a:xfrm>
            <a:off x="6675120" y="11887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400" b="1">
                <a:solidFill>
                  <a:srgbClr val="1E3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Polish &amp;</a:t>
            </a:r>
            <a:endParaRPr lang="en-US" sz="1400"/>
          </a:p>
          <a:p>
            <a:pPr marL="0" indent="0" algn="ctr">
              <a:buNone/>
            </a:pPr>
            <a:r>
              <a:rPr lang="en-US" sz="1400" b="1">
                <a:solidFill>
                  <a:srgbClr val="1E3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</a:t>
            </a:r>
            <a:endParaRPr lang="en-US" sz="1400"/>
          </a:p>
        </p:txBody>
      </p:sp>
      <p:sp>
        <p:nvSpPr>
          <p:cNvPr id="23" name="Text 21"/>
          <p:cNvSpPr/>
          <p:nvPr/>
        </p:nvSpPr>
        <p:spPr>
          <a:xfrm>
            <a:off x="6675120" y="1874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Mar-Apr</a:t>
            </a:r>
            <a:endParaRPr lang="en-US" sz="1000"/>
          </a:p>
        </p:txBody>
      </p:sp>
      <p:sp>
        <p:nvSpPr>
          <p:cNvPr id="24" name="Text 22"/>
          <p:cNvSpPr/>
          <p:nvPr/>
        </p:nvSpPr>
        <p:spPr>
          <a:xfrm>
            <a:off x="6583680" y="283464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refinements, testing, documentation, final demo</a:t>
            </a:r>
            <a:endParaRPr lang="en-US" sz="1100"/>
          </a:p>
        </p:txBody>
      </p:sp>
      <p:sp>
        <p:nvSpPr>
          <p:cNvPr id="25" name="Shape 23"/>
          <p:cNvSpPr/>
          <p:nvPr/>
        </p:nvSpPr>
        <p:spPr>
          <a:xfrm>
            <a:off x="731520" y="4206240"/>
            <a:ext cx="768096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297680"/>
            <a:ext cx="365760" cy="36576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463040" y="420624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tasks tracked on GitHub Project Board (Kanban) with user stories mapped to FRs</a:t>
            </a:r>
            <a:endParaRPr lang="en-US" sz="13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1E3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Hills &amp; Valleys</a:t>
            </a:r>
            <a:endParaRPr lang="en-US" sz="360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365760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31520" y="1097280"/>
            <a:ext cx="3657600" cy="54864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170432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0972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Hills (Wins)</a:t>
            </a:r>
            <a:endParaRPr lang="en-US" sz="1800"/>
          </a:p>
        </p:txBody>
      </p:sp>
      <p:sp>
        <p:nvSpPr>
          <p:cNvPr id="8" name="Text 5"/>
          <p:cNvSpPr/>
          <p:nvPr/>
        </p:nvSpPr>
        <p:spPr>
          <a:xfrm>
            <a:off x="1005840" y="1828800"/>
            <a:ext cx="3200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14 functional requirements delivered</a:t>
            </a:r>
            <a:endParaRPr lang="en-US" sz="130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user research grounded our decisions</a:t>
            </a:r>
            <a:endParaRPr lang="en-US" sz="130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communicated well despite busy schedules</a:t>
            </a:r>
            <a:endParaRPr lang="en-US" sz="130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 architecture kept code clean and organized</a:t>
            </a:r>
            <a:endParaRPr lang="en-US" sz="1300"/>
          </a:p>
        </p:txBody>
      </p:sp>
      <p:sp>
        <p:nvSpPr>
          <p:cNvPr id="9" name="Shape 6"/>
          <p:cNvSpPr/>
          <p:nvPr/>
        </p:nvSpPr>
        <p:spPr>
          <a:xfrm>
            <a:off x="4754880" y="1097280"/>
            <a:ext cx="365760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4754880" y="1097280"/>
            <a:ext cx="3657600" cy="548640"/>
          </a:xfrm>
          <a:prstGeom prst="rect">
            <a:avLst/>
          </a:prstGeom>
          <a:solidFill>
            <a:srgbClr val="8B451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170432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94960" y="10972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Valleys (Challenges)</a:t>
            </a:r>
            <a:endParaRPr lang="en-US" sz="1800"/>
          </a:p>
        </p:txBody>
      </p:sp>
      <p:sp>
        <p:nvSpPr>
          <p:cNvPr id="13" name="Text 9"/>
          <p:cNvSpPr/>
          <p:nvPr/>
        </p:nvSpPr>
        <p:spPr>
          <a:xfrm>
            <a:off x="5029200" y="1828800"/>
            <a:ext cx="3200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Balancing coursework and project deadlines</a:t>
            </a:r>
            <a:endParaRPr lang="en-US" sz="130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Coordinating schedules across 5 team members</a:t>
            </a:r>
            <a:endParaRPr lang="en-US" sz="130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required iteration based on feedback</a:t>
            </a:r>
            <a:endParaRPr lang="en-US" sz="130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new tools and frameworks on the fly</a:t>
            </a:r>
            <a:endParaRPr lang="en-US" sz="13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1E3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Feedback &amp; How We Adapted</a:t>
            </a:r>
            <a:endParaRPr lang="en-US" sz="360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73152" cy="1371600"/>
          </a:xfrm>
          <a:prstGeom prst="rect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097280" y="123444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E3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2 Feedback: UI/UX</a:t>
            </a:r>
            <a:endParaRPr lang="en-US" sz="1600"/>
          </a:p>
        </p:txBody>
      </p:sp>
      <p:sp>
        <p:nvSpPr>
          <p:cNvPr id="7" name="Text 5"/>
          <p:cNvSpPr/>
          <p:nvPr/>
        </p:nvSpPr>
        <p:spPr>
          <a:xfrm>
            <a:off x="1097280" y="164592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"Make navigation clearer"  We restructured the nav bar, improved menu labels, added breadcrumbs for better wayfinding, and refined the overall page layout for a more intuitive flow.</a:t>
            </a:r>
            <a:endParaRPr lang="en-US" sz="1300"/>
          </a:p>
        </p:txBody>
      </p:sp>
      <p:sp>
        <p:nvSpPr>
          <p:cNvPr id="8" name="Shape 6"/>
          <p:cNvSpPr/>
          <p:nvPr/>
        </p:nvSpPr>
        <p:spPr>
          <a:xfrm>
            <a:off x="731520" y="2834640"/>
            <a:ext cx="768096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31520" y="2834640"/>
            <a:ext cx="73152" cy="1371600"/>
          </a:xfrm>
          <a:prstGeom prst="rect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097280" y="288036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E3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Ongoing: Team Communication</a:t>
            </a:r>
            <a:endParaRPr lang="en-US" sz="1600"/>
          </a:p>
        </p:txBody>
      </p:sp>
      <p:sp>
        <p:nvSpPr>
          <p:cNvPr id="11" name="Text 9"/>
          <p:cNvSpPr/>
          <p:nvPr/>
        </p:nvSpPr>
        <p:spPr>
          <a:xfrm>
            <a:off x="1097280" y="329184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everyone juggling exams and coursework, we leaned on Discord for async updates and short stand-ups to keep momentum without requiring everyone online at the same time.</a:t>
            </a:r>
            <a:endParaRPr lang="en-US" sz="13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3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Demo</a:t>
            </a:r>
            <a:endParaRPr lang="en-US" sz="440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PantriHub MVP in Action</a:t>
            </a:r>
            <a:endParaRPr lang="en-US" sz="2000"/>
          </a:p>
        </p:txBody>
      </p:sp>
      <p:sp>
        <p:nvSpPr>
          <p:cNvPr id="6" name="Shape 4"/>
          <p:cNvSpPr/>
          <p:nvPr/>
        </p:nvSpPr>
        <p:spPr>
          <a:xfrm>
            <a:off x="731520" y="2194560"/>
            <a:ext cx="1371600" cy="36576"/>
          </a:xfrm>
          <a:prstGeom prst="rect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60604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25603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Registration &amp; Login (FR-01 to FR-03)</a:t>
            </a:r>
            <a:endParaRPr lang="en-US" sz="150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15468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63040" y="31089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CRUD Operations (FR-04 to FR-07)</a:t>
            </a:r>
            <a:endParaRPr lang="en-US" sz="150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703320"/>
            <a:ext cx="365760" cy="3657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463040" y="36576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Dashboard with Expiry Alerts (FR-08 to FR-10)</a:t>
            </a:r>
            <a:endParaRPr lang="en-US" sz="150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4251960"/>
            <a:ext cx="365760" cy="36576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463040" y="42062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Filter by Name, Category, Location (FR-11 to FR-14)</a:t>
            </a:r>
            <a:endParaRPr lang="en-US" sz="1500"/>
          </a:p>
        </p:txBody>
      </p:sp>
      <p:sp>
        <p:nvSpPr>
          <p:cNvPr id="15" name="Text 9"/>
          <p:cNvSpPr/>
          <p:nvPr/>
        </p:nvSpPr>
        <p:spPr>
          <a:xfrm>
            <a:off x="731520" y="45720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i="1" dirty="0">
              <a:solidFill>
                <a:srgbClr val="97BC62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1E3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Next: Future MVPs</a:t>
            </a:r>
            <a:endParaRPr lang="en-US" sz="360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365760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3657600" cy="54864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261872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1887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Transfer &amp; Request System</a:t>
            </a:r>
            <a:endParaRPr lang="en-US" sz="1600"/>
          </a:p>
        </p:txBody>
      </p:sp>
      <p:sp>
        <p:nvSpPr>
          <p:cNvPr id="8" name="Text 5"/>
          <p:cNvSpPr/>
          <p:nvPr/>
        </p:nvSpPr>
        <p:spPr>
          <a:xfrm>
            <a:off x="1005840" y="1920240"/>
            <a:ext cx="3200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banks can request items directly from other locations through the platform</a:t>
            </a:r>
            <a:endParaRPr lang="en-US" sz="120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transfer tracking from request to fulfillment</a:t>
            </a:r>
            <a:endParaRPr lang="en-US" sz="120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and delivery coordination would be handled by the food banks themselves</a:t>
            </a:r>
            <a:endParaRPr lang="en-US" sz="1200"/>
          </a:p>
        </p:txBody>
      </p:sp>
      <p:sp>
        <p:nvSpPr>
          <p:cNvPr id="9" name="Shape 6"/>
          <p:cNvSpPr/>
          <p:nvPr/>
        </p:nvSpPr>
        <p:spPr>
          <a:xfrm>
            <a:off x="4754880" y="1188720"/>
            <a:ext cx="365760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4754880" y="1188720"/>
            <a:ext cx="3657600" cy="54864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261872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94960" y="11887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Automated Expiry Alerts</a:t>
            </a:r>
            <a:endParaRPr lang="en-US" sz="1600"/>
          </a:p>
        </p:txBody>
      </p:sp>
      <p:sp>
        <p:nvSpPr>
          <p:cNvPr id="13" name="Text 9"/>
          <p:cNvSpPr/>
          <p:nvPr/>
        </p:nvSpPr>
        <p:spPr>
          <a:xfrm>
            <a:off x="5029200" y="1920240"/>
            <a:ext cx="3200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email or in-app notifications when items hit the 7-day expiry window</a:t>
            </a:r>
            <a:endParaRPr lang="en-US" sz="120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digest of expiring inventory across all locations</a:t>
            </a:r>
            <a:endParaRPr lang="en-US" sz="120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manual checking and helps prevent food waste proactively</a:t>
            </a:r>
            <a:endParaRPr lang="en-US" sz="1200"/>
          </a:p>
        </p:txBody>
      </p:sp>
      <p:sp>
        <p:nvSpPr>
          <p:cNvPr id="14" name="Text 10"/>
          <p:cNvSpPr/>
          <p:nvPr/>
        </p:nvSpPr>
        <p:spPr>
          <a:xfrm>
            <a:off x="731520" y="45720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MVPs build directly on the existing shared dashboard and inventory system</a:t>
            </a:r>
            <a:endParaRPr lang="en-US" sz="12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3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Lessons Learned</a:t>
            </a:r>
            <a:endParaRPr lang="en-US" sz="360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14300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09728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with real users</a:t>
            </a:r>
            <a:endParaRPr lang="en-US" sz="1700"/>
          </a:p>
        </p:txBody>
      </p:sp>
      <p:sp>
        <p:nvSpPr>
          <p:cNvPr id="7" name="Text 4"/>
          <p:cNvSpPr/>
          <p:nvPr/>
        </p:nvSpPr>
        <p:spPr>
          <a:xfrm>
            <a:off x="1280160" y="1481328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Interviews shaped better requirements than assumptions ever could</a:t>
            </a:r>
            <a:endParaRPr lang="en-US" sz="130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057400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80160" y="201168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Communication beats talent</a:t>
            </a:r>
            <a:endParaRPr lang="en-US" sz="1700"/>
          </a:p>
        </p:txBody>
      </p:sp>
      <p:sp>
        <p:nvSpPr>
          <p:cNvPr id="10" name="Text 6"/>
          <p:cNvSpPr/>
          <p:nvPr/>
        </p:nvSpPr>
        <p:spPr>
          <a:xfrm>
            <a:off x="1280160" y="2395728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check-ins and async updates kept us aligned despite busy schedules</a:t>
            </a:r>
            <a:endParaRPr lang="en-US" sz="130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971800"/>
            <a:ext cx="365760" cy="3657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80160" y="292608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Feedback is a gift</a:t>
            </a:r>
            <a:endParaRPr lang="en-US" sz="1700"/>
          </a:p>
        </p:txBody>
      </p:sp>
      <p:sp>
        <p:nvSpPr>
          <p:cNvPr id="13" name="Text 8"/>
          <p:cNvSpPr/>
          <p:nvPr/>
        </p:nvSpPr>
        <p:spPr>
          <a:xfrm>
            <a:off x="1280160" y="3310128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2 feedback pushed us to build a better product</a:t>
            </a:r>
            <a:endParaRPr lang="en-US" sz="130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886200"/>
            <a:ext cx="365760" cy="36576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80160" y="384048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Done is better than perfect</a:t>
            </a:r>
            <a:endParaRPr lang="en-US" sz="1700"/>
          </a:p>
        </p:txBody>
      </p:sp>
      <p:sp>
        <p:nvSpPr>
          <p:cNvPr id="16" name="Text 10"/>
          <p:cNvSpPr/>
          <p:nvPr/>
        </p:nvSpPr>
        <p:spPr>
          <a:xfrm>
            <a:off x="1280160" y="4224528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a working MVP taught us more than chasing perfection</a:t>
            </a:r>
            <a:endParaRPr lang="en-US" sz="1300"/>
          </a:p>
        </p:txBody>
      </p:sp>
      <p:sp>
        <p:nvSpPr>
          <p:cNvPr id="17" name="Shape 11"/>
          <p:cNvSpPr/>
          <p:nvPr/>
        </p:nvSpPr>
        <p:spPr>
          <a:xfrm>
            <a:off x="731520" y="4572000"/>
            <a:ext cx="1371600" cy="36576"/>
          </a:xfrm>
          <a:prstGeom prst="rect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2"/>
          <p:cNvSpPr/>
          <p:nvPr/>
        </p:nvSpPr>
        <p:spPr>
          <a:xfrm>
            <a:off x="731520" y="46634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you!  Questions?</a:t>
            </a:r>
            <a:endParaRPr lang="en-US"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256b8bf-711b-4a88-aaa9-949ef2dceef7">
      <Terms xmlns="http://schemas.microsoft.com/office/infopath/2007/PartnerControls"/>
    </lcf76f155ced4ddcb4097134ff3c332f>
    <TaxCatchAll xmlns="a3cc7b55-ce28-41dd-8654-e16abf950a08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B4A39976912FA43A5372E9E3E4FEA0D" ma:contentTypeVersion="10" ma:contentTypeDescription="Create a new document." ma:contentTypeScope="" ma:versionID="2436e4c3094b40d7ce86ce8ffe8f54c4">
  <xsd:schema xmlns:xsd="http://www.w3.org/2001/XMLSchema" xmlns:xs="http://www.w3.org/2001/XMLSchema" xmlns:p="http://schemas.microsoft.com/office/2006/metadata/properties" xmlns:ns2="b256b8bf-711b-4a88-aaa9-949ef2dceef7" xmlns:ns3="a3cc7b55-ce28-41dd-8654-e16abf950a08" targetNamespace="http://schemas.microsoft.com/office/2006/metadata/properties" ma:root="true" ma:fieldsID="b7affe3f4c704e8262ed3ed58d1cb3eb" ns2:_="" ns3:_="">
    <xsd:import namespace="b256b8bf-711b-4a88-aaa9-949ef2dceef7"/>
    <xsd:import namespace="a3cc7b55-ce28-41dd-8654-e16abf950a0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256b8bf-711b-4a88-aaa9-949ef2dceef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a7d72d0b-698f-4d82-adcb-8a7f6eb721d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3cc7b55-ce28-41dd-8654-e16abf950a08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f0f86bc7-7655-4a59-a1ce-1eb2cbd3070e}" ma:internalName="TaxCatchAll" ma:showField="CatchAllData" ma:web="a3cc7b55-ce28-41dd-8654-e16abf950a0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E19EF80-4C3C-434F-8E98-6FDC7E7B1E62}">
  <ds:schemaRefs>
    <ds:schemaRef ds:uri="a3cc7b55-ce28-41dd-8654-e16abf950a08"/>
    <ds:schemaRef ds:uri="b256b8bf-711b-4a88-aaa9-949ef2dceef7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6FA64984-5E57-4CA1-A6F6-DE423F838CE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555BEB3-9F75-4655-9568-A03E84D58256}">
  <ds:schemaRefs>
    <ds:schemaRef ds:uri="a3cc7b55-ce28-41dd-8654-e16abf950a08"/>
    <ds:schemaRef ds:uri="b256b8bf-711b-4a88-aaa9-949ef2dceef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10</Slides>
  <Notes>10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PantriHub - Activity 4 Final Report-Out</dc:title>
  <dc:subject>PptxGenJS Presentation</dc:subject>
  <dc:creator>PantriHub Team</dc:creator>
  <cp:revision>10</cp:revision>
  <dcterms:created xsi:type="dcterms:W3CDTF">2026-04-08T01:42:03Z</dcterms:created>
  <dcterms:modified xsi:type="dcterms:W3CDTF">2026-04-11T04:41:59Z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0x010100EB4A39976912FA43A5372E9E3E4FEA0D</vt:lpwstr>
  </property>
  <property fmtid="{D5CDD505-2E9C-101B-9397-08002B2CF9AE}" pid="3" name="MediaServiceImageTags">
    <vt:lpwstr/>
  </property>
</Properties>
</file>
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3" r:id="rId4"/>
    <p:sldMasterId id="2147483676" r:id="rId5"/>
  </p:sldMasterIdLst>
  <p:notesMasterIdLst>
    <p:notesMasterId r:id="rId17"/>
  </p:notesMasterIdLst>
  <p:sldIdLst>
    <p:sldId id="256" r:id="rId6"/>
    <p:sldId id="269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5143500" type="screen16x9"/>
  <p:notesSz cx="51435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C5F2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45" d="100"/>
          <a:sy n="145" d="100"/>
        </p:scale>
        <p:origin x="100" y="1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10" Type="http://schemas.openxmlformats.org/officeDocument/2006/relationships/slide" Target="slides/slide5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247394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3/18/2026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4082468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3/18/2026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5519169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3/18/2026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2213529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3/18/2026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2567406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3/18/2026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073539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3/18/2026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1834960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3/18/2026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9483331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3/18/2026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2960908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3/18/2026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5103491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3/18/2026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9724806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3/18/2026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0520439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9881421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909998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059277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008566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668203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37838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112519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322271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609342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46839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274784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549787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978033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3/18/2026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70668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5" r:id="rId2"/>
    <p:sldLayoutId id="2147483666" r:id="rId3"/>
    <p:sldLayoutId id="2147483667" r:id="rId4"/>
    <p:sldLayoutId id="2147483668" r:id="rId5"/>
    <p:sldLayoutId id="2147483669" r:id="rId6"/>
    <p:sldLayoutId id="2147483670" r:id="rId7"/>
    <p:sldLayoutId id="2147483671" r:id="rId8"/>
    <p:sldLayoutId id="2147483672" r:id="rId9"/>
    <p:sldLayoutId id="2147483673" r:id="rId10"/>
    <p:sldLayoutId id="2147483674" r:id="rId11"/>
    <p:sldLayoutId id="2147483675" r:id="rId12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52008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78" r:id="rId2"/>
    <p:sldLayoutId id="2147483679" r:id="rId3"/>
    <p:sldLayoutId id="2147483680" r:id="rId4"/>
    <p:sldLayoutId id="2147483681" r:id="rId5"/>
    <p:sldLayoutId id="2147483682" r:id="rId6"/>
    <p:sldLayoutId id="2147483683" r:id="rId7"/>
    <p:sldLayoutId id="2147483684" r:id="rId8"/>
    <p:sldLayoutId id="2147483685" r:id="rId9"/>
    <p:sldLayoutId id="2147483686" r:id="rId10"/>
    <p:sldLayoutId id="2147483687" r:id="rId11"/>
    <p:sldLayoutId id="2147483688" r:id="rId12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C5F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97BC6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731520" y="109728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PantriHub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731520" y="21031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Inventory Platform for Food Banks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31520" y="2926080"/>
            <a:ext cx="2286000" cy="36576"/>
          </a:xfrm>
          <a:prstGeom prst="rect">
            <a:avLst/>
          </a:prstGeom>
          <a:solidFill>
            <a:srgbClr val="97BC6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731520" y="32004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Scrum / Progress Check-in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37490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March 18, 2026  |  ENSE 281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429768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Shivam Soni  •  Ethan Behl  •  Thomas Needham  •  Ishan Patel  •  Bushra Alkhateeb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65760"/>
            <a:ext cx="457200" cy="4572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05840" y="3657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378">
              <a:defRPr/>
            </a:pPr>
            <a:r>
              <a:rPr lang="en-US" sz="3600" b="1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Meet the Team</a:t>
            </a:r>
            <a:endParaRPr lang="en-US" sz="36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Shape 1"/>
          <p:cNvSpPr/>
          <p:nvPr/>
        </p:nvSpPr>
        <p:spPr>
          <a:xfrm>
            <a:off x="457200" y="1188720"/>
            <a:ext cx="265176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254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378">
              <a:defRPr/>
            </a:pPr>
            <a:endParaRPr lang="en-IN" sz="18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" name="Shape 2"/>
          <p:cNvSpPr/>
          <p:nvPr/>
        </p:nvSpPr>
        <p:spPr>
          <a:xfrm>
            <a:off x="457200" y="1188720"/>
            <a:ext cx="2651760" cy="73152"/>
          </a:xfrm>
          <a:prstGeom prst="rect">
            <a:avLst/>
          </a:prstGeom>
          <a:solidFill>
            <a:srgbClr val="97BC62"/>
          </a:solidFill>
          <a:ln/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378">
              <a:defRPr/>
            </a:pPr>
            <a:endParaRPr lang="en-IN" sz="18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" name="Text 3"/>
          <p:cNvSpPr/>
          <p:nvPr/>
        </p:nvSpPr>
        <p:spPr>
          <a:xfrm>
            <a:off x="640080" y="1737360"/>
            <a:ext cx="2286000" cy="457200"/>
          </a:xfrm>
          <a:prstGeom prst="rect">
            <a:avLst/>
          </a:prstGeom>
          <a:noFill/>
          <a:ln/>
        </p:spPr>
        <p:txBody>
          <a:bodyPr wrap="square" lIns="68580" tIns="34290" rIns="68580" bIns="3429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378">
              <a:defRPr/>
            </a:pPr>
            <a:r>
              <a:rPr lang="en-US" sz="1575" b="1">
                <a:solidFill>
                  <a:srgbClr val="2C5F2D"/>
                </a:solidFill>
                <a:latin typeface="Calibri" panose="020F0502020204030204"/>
                <a:ea typeface="Calibri"/>
                <a:cs typeface="Calibri"/>
              </a:rPr>
              <a:t>Shivam Soni</a:t>
            </a:r>
          </a:p>
        </p:txBody>
      </p:sp>
      <p:sp>
        <p:nvSpPr>
          <p:cNvPr id="7" name="Shape 4"/>
          <p:cNvSpPr/>
          <p:nvPr/>
        </p:nvSpPr>
        <p:spPr>
          <a:xfrm>
            <a:off x="3246120" y="1188720"/>
            <a:ext cx="265176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254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378">
              <a:defRPr/>
            </a:pPr>
            <a:endParaRPr lang="en-IN" sz="18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" name="Shape 5"/>
          <p:cNvSpPr/>
          <p:nvPr/>
        </p:nvSpPr>
        <p:spPr>
          <a:xfrm>
            <a:off x="3246120" y="1188720"/>
            <a:ext cx="2651760" cy="73152"/>
          </a:xfrm>
          <a:prstGeom prst="rect">
            <a:avLst/>
          </a:prstGeom>
          <a:solidFill>
            <a:srgbClr val="97BC62"/>
          </a:solidFill>
          <a:ln/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378">
              <a:defRPr/>
            </a:pPr>
            <a:endParaRPr lang="en-IN" sz="18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" name="Text 6"/>
          <p:cNvSpPr/>
          <p:nvPr/>
        </p:nvSpPr>
        <p:spPr>
          <a:xfrm>
            <a:off x="3429000" y="1737360"/>
            <a:ext cx="2286000" cy="457200"/>
          </a:xfrm>
          <a:prstGeom prst="rect">
            <a:avLst/>
          </a:prstGeom>
          <a:noFill/>
          <a:ln/>
        </p:spPr>
        <p:txBody>
          <a:bodyPr wrap="square" lIns="68580" tIns="34290" rIns="68580" bIns="3429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378">
              <a:defRPr/>
            </a:pPr>
            <a:r>
              <a:rPr lang="en-US" sz="1575" b="1">
                <a:solidFill>
                  <a:srgbClr val="2C5F2D"/>
                </a:solidFill>
                <a:latin typeface="Calibri" panose="020F0502020204030204"/>
                <a:ea typeface="Calibri"/>
                <a:cs typeface="Calibri"/>
              </a:rPr>
              <a:t>Ethan Behl</a:t>
            </a:r>
          </a:p>
        </p:txBody>
      </p:sp>
      <p:sp>
        <p:nvSpPr>
          <p:cNvPr id="10" name="Shape 7"/>
          <p:cNvSpPr/>
          <p:nvPr/>
        </p:nvSpPr>
        <p:spPr>
          <a:xfrm>
            <a:off x="6035040" y="1188720"/>
            <a:ext cx="265176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254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378">
              <a:defRPr/>
            </a:pPr>
            <a:endParaRPr lang="en-IN" sz="18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6035040" y="1188720"/>
            <a:ext cx="2651760" cy="73152"/>
          </a:xfrm>
          <a:prstGeom prst="rect">
            <a:avLst/>
          </a:prstGeom>
          <a:solidFill>
            <a:srgbClr val="97BC62"/>
          </a:solidFill>
          <a:ln/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378">
              <a:defRPr/>
            </a:pPr>
            <a:endParaRPr lang="en-IN" sz="18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2" name="Text 9"/>
          <p:cNvSpPr/>
          <p:nvPr/>
        </p:nvSpPr>
        <p:spPr>
          <a:xfrm>
            <a:off x="6217920" y="1737360"/>
            <a:ext cx="2286000" cy="457200"/>
          </a:xfrm>
          <a:prstGeom prst="rect">
            <a:avLst/>
          </a:prstGeom>
          <a:noFill/>
          <a:ln/>
        </p:spPr>
        <p:txBody>
          <a:bodyPr wrap="square" lIns="68580" tIns="34290" rIns="68580" bIns="3429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378">
              <a:defRPr/>
            </a:pPr>
            <a:r>
              <a:rPr lang="en-US" sz="1575" b="1">
                <a:solidFill>
                  <a:srgbClr val="2C5F2D"/>
                </a:solidFill>
                <a:latin typeface="Calibri" panose="020F0502020204030204"/>
                <a:ea typeface="Calibri"/>
                <a:cs typeface="Calibri"/>
              </a:rPr>
              <a:t>Bushra Alkhateeb</a:t>
            </a:r>
          </a:p>
        </p:txBody>
      </p:sp>
      <p:sp>
        <p:nvSpPr>
          <p:cNvPr id="13" name="Shape 10"/>
          <p:cNvSpPr/>
          <p:nvPr/>
        </p:nvSpPr>
        <p:spPr>
          <a:xfrm>
            <a:off x="1851660" y="3108960"/>
            <a:ext cx="265176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254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378">
              <a:defRPr/>
            </a:pPr>
            <a:endParaRPr lang="en-IN" sz="18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4" name="Shape 11"/>
          <p:cNvSpPr/>
          <p:nvPr/>
        </p:nvSpPr>
        <p:spPr>
          <a:xfrm>
            <a:off x="1851660" y="3108960"/>
            <a:ext cx="2651760" cy="73152"/>
          </a:xfrm>
          <a:prstGeom prst="rect">
            <a:avLst/>
          </a:prstGeom>
          <a:solidFill>
            <a:srgbClr val="97BC62"/>
          </a:solidFill>
          <a:ln/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378">
              <a:defRPr/>
            </a:pPr>
            <a:endParaRPr lang="en-IN" sz="18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2034540" y="3657600"/>
            <a:ext cx="2286000" cy="457200"/>
          </a:xfrm>
          <a:prstGeom prst="rect">
            <a:avLst/>
          </a:prstGeom>
          <a:noFill/>
          <a:ln/>
        </p:spPr>
        <p:txBody>
          <a:bodyPr wrap="square" lIns="68580" tIns="34290" rIns="68580" bIns="3429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378">
              <a:defRPr/>
            </a:pPr>
            <a:r>
              <a:rPr lang="en-US" sz="1575" b="1">
                <a:solidFill>
                  <a:srgbClr val="2C5F2D"/>
                </a:solidFill>
                <a:latin typeface="Calibri" panose="020F0502020204030204"/>
                <a:ea typeface="Calibri"/>
                <a:cs typeface="Calibri"/>
              </a:rPr>
              <a:t>Thomas Needham</a:t>
            </a:r>
          </a:p>
        </p:txBody>
      </p:sp>
      <p:sp>
        <p:nvSpPr>
          <p:cNvPr id="16" name="Shape 13"/>
          <p:cNvSpPr/>
          <p:nvPr/>
        </p:nvSpPr>
        <p:spPr>
          <a:xfrm>
            <a:off x="4640580" y="3108960"/>
            <a:ext cx="265176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254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378">
              <a:defRPr/>
            </a:pPr>
            <a:endParaRPr lang="en-IN" sz="18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7" name="Shape 14"/>
          <p:cNvSpPr/>
          <p:nvPr/>
        </p:nvSpPr>
        <p:spPr>
          <a:xfrm>
            <a:off x="4640580" y="3108960"/>
            <a:ext cx="2651760" cy="73152"/>
          </a:xfrm>
          <a:prstGeom prst="rect">
            <a:avLst/>
          </a:prstGeom>
          <a:solidFill>
            <a:srgbClr val="97BC62"/>
          </a:solidFill>
          <a:ln/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378">
              <a:defRPr/>
            </a:pPr>
            <a:endParaRPr lang="en-IN" sz="18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8" name="Text 15"/>
          <p:cNvSpPr/>
          <p:nvPr/>
        </p:nvSpPr>
        <p:spPr>
          <a:xfrm>
            <a:off x="4823460" y="3657600"/>
            <a:ext cx="2286000" cy="457200"/>
          </a:xfrm>
          <a:prstGeom prst="rect">
            <a:avLst/>
          </a:prstGeom>
          <a:noFill/>
          <a:ln/>
        </p:spPr>
        <p:txBody>
          <a:bodyPr wrap="square" lIns="68580" tIns="34290" rIns="68580" bIns="3429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378">
              <a:defRPr/>
            </a:pPr>
            <a:r>
              <a:rPr lang="en-US" sz="1575" b="1">
                <a:solidFill>
                  <a:srgbClr val="2C5F2D"/>
                </a:solidFill>
                <a:latin typeface="Calibri" panose="020F0502020204030204"/>
                <a:ea typeface="Calibri"/>
                <a:cs typeface="Calibri"/>
              </a:rPr>
              <a:t>Ishan Patel</a:t>
            </a:r>
          </a:p>
        </p:txBody>
      </p:sp>
    </p:spTree>
    <p:extLst>
      <p:ext uri="{BB962C8B-B14F-4D97-AF65-F5344CB8AC3E}">
        <p14:creationId xmlns:p14="http://schemas.microsoft.com/office/powerpoint/2010/main" val="21005697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C5F2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731520" y="32004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Agenda</a:t>
            </a:r>
            <a:endParaRPr lang="en-US" sz="3600" dirty="0">
              <a:solidFill>
                <a:srgbClr val="2C5F2D"/>
              </a:solidFill>
            </a:endParaRPr>
          </a:p>
        </p:txBody>
      </p:sp>
      <p:sp>
        <p:nvSpPr>
          <p:cNvPr id="4" name="Shape 2"/>
          <p:cNvSpPr/>
          <p:nvPr/>
        </p:nvSpPr>
        <p:spPr>
          <a:xfrm>
            <a:off x="731520" y="1234440"/>
            <a:ext cx="411480" cy="411480"/>
          </a:xfrm>
          <a:prstGeom prst="ellipse">
            <a:avLst/>
          </a:prstGeom>
          <a:solidFill>
            <a:srgbClr val="2C5F2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731520" y="12344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371600" y="123444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 &amp; Problem Statement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31520" y="1828800"/>
            <a:ext cx="411480" cy="411480"/>
          </a:xfrm>
          <a:prstGeom prst="ellipse">
            <a:avLst/>
          </a:prstGeom>
          <a:solidFill>
            <a:srgbClr val="2C5F2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731520" y="18288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371600" y="182880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Sprint Status (Yellow)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31520" y="2423160"/>
            <a:ext cx="411480" cy="411480"/>
          </a:xfrm>
          <a:prstGeom prst="ellipse">
            <a:avLst/>
          </a:prstGeom>
          <a:solidFill>
            <a:srgbClr val="2C5F2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731520" y="24231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371600" y="242316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Accomplished This Week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31520" y="3017520"/>
            <a:ext cx="411480" cy="411480"/>
          </a:xfrm>
          <a:prstGeom prst="ellipse">
            <a:avLst/>
          </a:prstGeom>
          <a:solidFill>
            <a:srgbClr val="2C5F2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731520" y="30175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371600" y="301752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Architecture &amp; Demo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731520" y="3611880"/>
            <a:ext cx="411480" cy="411480"/>
          </a:xfrm>
          <a:prstGeom prst="ellipse">
            <a:avLst/>
          </a:prstGeom>
          <a:solidFill>
            <a:srgbClr val="2C5F2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731520" y="36118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371600" y="361188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Week’s Plan &amp; Recovery Strategy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731520" y="4206240"/>
            <a:ext cx="411480" cy="411480"/>
          </a:xfrm>
          <a:prstGeom prst="ellipse">
            <a:avLst/>
          </a:prstGeom>
          <a:solidFill>
            <a:srgbClr val="2C5F2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731520" y="42062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371600" y="420624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Self-Reflection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C5F2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731520" y="32004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</a:t>
            </a:r>
            <a:r>
              <a:rPr lang="en-US" sz="36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r>
              <a:rPr lang="en-US" sz="36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Problem</a:t>
            </a:r>
            <a:endParaRPr lang="en-US" sz="3600" dirty="0">
              <a:solidFill>
                <a:srgbClr val="2C5F2D"/>
              </a:solidFill>
            </a:endParaRPr>
          </a:p>
        </p:txBody>
      </p:sp>
      <p:sp>
        <p:nvSpPr>
          <p:cNvPr id="4" name="Shape 2"/>
          <p:cNvSpPr/>
          <p:nvPr/>
        </p:nvSpPr>
        <p:spPr>
          <a:xfrm>
            <a:off x="731520" y="1188720"/>
            <a:ext cx="4754880" cy="32004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731520" y="1188720"/>
            <a:ext cx="73152" cy="3200400"/>
          </a:xfrm>
          <a:prstGeom prst="rect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1051560" y="137160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 banks in Saskatchewan operate in isolation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51560" y="1920240"/>
            <a:ext cx="42062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visibility into each other’s inventory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Surplus at one location, shortages at another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 waste from uncoordinated expiry tracking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processes prone to error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760720" y="1188720"/>
            <a:ext cx="2926080" cy="3200400"/>
          </a:xfrm>
          <a:prstGeom prst="rect">
            <a:avLst/>
          </a:prstGeom>
          <a:solidFill>
            <a:srgbClr val="2C5F2D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5943600" y="146304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PantriHub Solution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943600" y="2011680"/>
            <a:ext cx="2560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shared dashboard that lets food banks see, search, and coordinate inventory across all locations in real time.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943600" y="347472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through interviews with food banks in Regina, Calgary, and Vancouver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C5F2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731520" y="32004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Sprint</a:t>
            </a:r>
            <a:r>
              <a:rPr lang="en-US" sz="36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r>
              <a:rPr lang="en-US" sz="36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Status</a:t>
            </a:r>
            <a:endParaRPr lang="en-US" sz="3600" dirty="0">
              <a:solidFill>
                <a:srgbClr val="2C5F2D"/>
              </a:solidFill>
            </a:endParaRPr>
          </a:p>
        </p:txBody>
      </p:sp>
      <p:sp>
        <p:nvSpPr>
          <p:cNvPr id="4" name="Shape 2"/>
          <p:cNvSpPr/>
          <p:nvPr/>
        </p:nvSpPr>
        <p:spPr>
          <a:xfrm>
            <a:off x="6400800" y="365760"/>
            <a:ext cx="2286000" cy="502920"/>
          </a:xfrm>
          <a:prstGeom prst="rect">
            <a:avLst/>
          </a:prstGeom>
          <a:solidFill>
            <a:srgbClr val="F5C542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6400800" y="36576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YELLOW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31520" y="1188720"/>
            <a:ext cx="3657600" cy="25603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731520" y="1188720"/>
            <a:ext cx="73152" cy="2560320"/>
          </a:xfrm>
          <a:prstGeom prst="rect">
            <a:avLst/>
          </a:prstGeom>
          <a:solidFill>
            <a:srgbClr val="F5C54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1005840" y="1371600"/>
            <a:ext cx="365760" cy="365760"/>
          </a:xfrm>
          <a:prstGeom prst="ellipse">
            <a:avLst/>
          </a:prstGeom>
          <a:solidFill>
            <a:srgbClr val="F5C542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9848" y="1435608"/>
            <a:ext cx="237744" cy="237744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508760" y="13716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Yellow?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051560" y="1965960"/>
            <a:ext cx="31089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lead (Shivam) unavailable this week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members had final round of midterms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1 (Mar 10–16) behind schedule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4754880" y="1188720"/>
            <a:ext cx="3931920" cy="25603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Shape 10"/>
          <p:cNvSpPr/>
          <p:nvPr/>
        </p:nvSpPr>
        <p:spPr>
          <a:xfrm>
            <a:off x="4754880" y="1188720"/>
            <a:ext cx="73152" cy="2560320"/>
          </a:xfrm>
          <a:prstGeom prst="rect">
            <a:avLst/>
          </a:prstGeom>
          <a:solidFill>
            <a:srgbClr val="2C5F2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Shape 11"/>
          <p:cNvSpPr/>
          <p:nvPr/>
        </p:nvSpPr>
        <p:spPr>
          <a:xfrm>
            <a:off x="5029200" y="1371600"/>
            <a:ext cx="365760" cy="365760"/>
          </a:xfrm>
          <a:prstGeom prst="ellipse">
            <a:avLst/>
          </a:prstGeom>
          <a:solidFill>
            <a:srgbClr val="2C5F2D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93208" y="1435608"/>
            <a:ext cx="237744" cy="237744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5532120" y="13716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 Plan</a:t>
            </a:r>
            <a:endParaRPr lang="en-US" sz="1600" dirty="0"/>
          </a:p>
        </p:txBody>
      </p:sp>
      <p:sp>
        <p:nvSpPr>
          <p:cNvPr id="17" name="Text 13"/>
          <p:cNvSpPr/>
          <p:nvPr/>
        </p:nvSpPr>
        <p:spPr>
          <a:xfrm>
            <a:off x="5074920" y="1965960"/>
            <a:ext cx="33832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sync to assign clear ownership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Compress Sprint 1 + overlap with Sprint 2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 check-ins to catch blockers early</a:t>
            </a:r>
            <a:endParaRPr lang="en-US" sz="1300" dirty="0"/>
          </a:p>
        </p:txBody>
      </p:sp>
      <p:sp>
        <p:nvSpPr>
          <p:cNvPr id="18" name="Shape 14"/>
          <p:cNvSpPr/>
          <p:nvPr/>
        </p:nvSpPr>
        <p:spPr>
          <a:xfrm>
            <a:off x="731520" y="4023360"/>
            <a:ext cx="7955280" cy="822960"/>
          </a:xfrm>
          <a:prstGeom prst="rect">
            <a:avLst/>
          </a:prstGeom>
          <a:solidFill>
            <a:srgbClr val="1A1A2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Shape 15"/>
          <p:cNvSpPr/>
          <p:nvPr/>
        </p:nvSpPr>
        <p:spPr>
          <a:xfrm>
            <a:off x="731520" y="4023360"/>
            <a:ext cx="3977640" cy="822960"/>
          </a:xfrm>
          <a:prstGeom prst="rect">
            <a:avLst/>
          </a:prstGeom>
          <a:solidFill>
            <a:srgbClr val="3D3D5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Text 16"/>
          <p:cNvSpPr/>
          <p:nvPr/>
        </p:nvSpPr>
        <p:spPr>
          <a:xfrm>
            <a:off x="731520" y="4023360"/>
            <a:ext cx="3977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5C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1: Auth + CRUD (FR-01–FR-07)</a:t>
            </a:r>
            <a:endParaRPr lang="en-US" sz="1100" dirty="0"/>
          </a:p>
        </p:txBody>
      </p:sp>
      <p:sp>
        <p:nvSpPr>
          <p:cNvPr id="21" name="Text 17"/>
          <p:cNvSpPr/>
          <p:nvPr/>
        </p:nvSpPr>
        <p:spPr>
          <a:xfrm>
            <a:off x="731520" y="4434840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 10–23 (extended)</a:t>
            </a:r>
            <a:endParaRPr lang="en-US" sz="1000" dirty="0"/>
          </a:p>
        </p:txBody>
      </p:sp>
      <p:sp>
        <p:nvSpPr>
          <p:cNvPr id="22" name="Text 18"/>
          <p:cNvSpPr/>
          <p:nvPr/>
        </p:nvSpPr>
        <p:spPr>
          <a:xfrm>
            <a:off x="4709160" y="4023360"/>
            <a:ext cx="3977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2: Dashboard + Search (FR-08–FR-14)</a:t>
            </a:r>
            <a:endParaRPr lang="en-US" sz="1100" dirty="0"/>
          </a:p>
        </p:txBody>
      </p:sp>
      <p:sp>
        <p:nvSpPr>
          <p:cNvPr id="23" name="Text 19"/>
          <p:cNvSpPr/>
          <p:nvPr/>
        </p:nvSpPr>
        <p:spPr>
          <a:xfrm>
            <a:off x="4709160" y="4434840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 17–23 (overlapping)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C5F2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731520" y="32004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This Week’s Progress</a:t>
            </a:r>
            <a:endParaRPr lang="en-US" sz="3600" dirty="0">
              <a:solidFill>
                <a:srgbClr val="2C5F2D"/>
              </a:solidFill>
            </a:endParaRPr>
          </a:p>
        </p:txBody>
      </p:sp>
      <p:sp>
        <p:nvSpPr>
          <p:cNvPr id="4" name="Shape 2"/>
          <p:cNvSpPr/>
          <p:nvPr/>
        </p:nvSpPr>
        <p:spPr>
          <a:xfrm>
            <a:off x="731520" y="1188720"/>
            <a:ext cx="3840480" cy="14630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914400" y="1417320"/>
            <a:ext cx="457200" cy="457200"/>
          </a:xfrm>
          <a:prstGeom prst="ellipse">
            <a:avLst/>
          </a:prstGeom>
          <a:solidFill>
            <a:srgbClr val="2C5F2D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1508760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54480" y="13258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Ishan &amp; Bushra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554480" y="16002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1554480" y="1920240"/>
            <a:ext cx="2834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Up &amp; Registration page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(FR-01, FR-02)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HTML/Bootstrap layouts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892040" y="1188720"/>
            <a:ext cx="3840480" cy="14630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Shape 8"/>
          <p:cNvSpPr/>
          <p:nvPr/>
        </p:nvSpPr>
        <p:spPr>
          <a:xfrm>
            <a:off x="5074920" y="1417320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66360" y="1508760"/>
            <a:ext cx="274320" cy="2743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715000" y="13258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Ethan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5715000" y="16002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5715000" y="1920240"/>
            <a:ext cx="2834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database setup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Connection configuration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731520" y="2880360"/>
            <a:ext cx="3840480" cy="14630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Shape 13"/>
          <p:cNvSpPr/>
          <p:nvPr/>
        </p:nvSpPr>
        <p:spPr>
          <a:xfrm>
            <a:off x="914400" y="3108960"/>
            <a:ext cx="457200" cy="457200"/>
          </a:xfrm>
          <a:prstGeom prst="ellipse">
            <a:avLst/>
          </a:prstGeom>
          <a:solidFill>
            <a:srgbClr val="6B7280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5840" y="3200400"/>
            <a:ext cx="274320" cy="27432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554480" y="30175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Thomas</a:t>
            </a:r>
            <a:endParaRPr lang="en-US" sz="1500" dirty="0"/>
          </a:p>
        </p:txBody>
      </p:sp>
      <p:sp>
        <p:nvSpPr>
          <p:cNvPr id="20" name="Text 15"/>
          <p:cNvSpPr/>
          <p:nvPr/>
        </p:nvSpPr>
        <p:spPr>
          <a:xfrm>
            <a:off x="1554480" y="32918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100" dirty="0"/>
          </a:p>
        </p:txBody>
      </p:sp>
      <p:sp>
        <p:nvSpPr>
          <p:cNvPr id="21" name="Text 16"/>
          <p:cNvSpPr/>
          <p:nvPr/>
        </p:nvSpPr>
        <p:spPr>
          <a:xfrm>
            <a:off x="1554480" y="3611880"/>
            <a:ext cx="2834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Helping Ethan setting up the environment</a:t>
            </a:r>
            <a:endParaRPr lang="en-US" sz="1200" dirty="0"/>
          </a:p>
        </p:txBody>
      </p:sp>
      <p:sp>
        <p:nvSpPr>
          <p:cNvPr id="22" name="Shape 17"/>
          <p:cNvSpPr/>
          <p:nvPr/>
        </p:nvSpPr>
        <p:spPr>
          <a:xfrm>
            <a:off x="4892040" y="2880360"/>
            <a:ext cx="3840480" cy="14630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3" name="Shape 18"/>
          <p:cNvSpPr/>
          <p:nvPr/>
        </p:nvSpPr>
        <p:spPr>
          <a:xfrm>
            <a:off x="5074920" y="3108960"/>
            <a:ext cx="457200" cy="457200"/>
          </a:xfrm>
          <a:prstGeom prst="ellipse">
            <a:avLst/>
          </a:prstGeom>
          <a:solidFill>
            <a:srgbClr val="6B7280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66360" y="3200400"/>
            <a:ext cx="274320" cy="27432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5715000" y="30175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Shivam</a:t>
            </a:r>
            <a:endParaRPr lang="en-US" sz="1500" dirty="0"/>
          </a:p>
        </p:txBody>
      </p:sp>
      <p:sp>
        <p:nvSpPr>
          <p:cNvPr id="26" name="Text 20"/>
          <p:cNvSpPr/>
          <p:nvPr/>
        </p:nvSpPr>
        <p:spPr>
          <a:xfrm>
            <a:off x="5715000" y="32918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Lead / Flex</a:t>
            </a:r>
            <a:endParaRPr lang="en-US" sz="1100" dirty="0"/>
          </a:p>
        </p:txBody>
      </p:sp>
      <p:sp>
        <p:nvSpPr>
          <p:cNvPr id="27" name="Text 21"/>
          <p:cNvSpPr/>
          <p:nvPr/>
        </p:nvSpPr>
        <p:spPr>
          <a:xfrm>
            <a:off x="5715000" y="3611880"/>
            <a:ext cx="2834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Unavailable last week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Resuming this week</a:t>
            </a:r>
            <a:endParaRPr lang="en-US" sz="1200" dirty="0"/>
          </a:p>
        </p:txBody>
      </p:sp>
      <p:sp>
        <p:nvSpPr>
          <p:cNvPr id="28" name="Text 22"/>
          <p:cNvSpPr/>
          <p:nvPr/>
        </p:nvSpPr>
        <p:spPr>
          <a:xfrm>
            <a:off x="731520" y="457200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scaffolding complete: Node.js/Express initialized with MVC folder structure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C5F2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731520" y="32004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MVC Architecture</a:t>
            </a:r>
            <a:endParaRPr lang="en-US" sz="3600" dirty="0">
              <a:solidFill>
                <a:srgbClr val="2C5F2D"/>
              </a:solidFill>
            </a:endParaRPr>
          </a:p>
        </p:txBody>
      </p:sp>
      <p:pic>
        <p:nvPicPr>
          <p:cNvPr id="4" name="Image 0" descr="/home/claude/mvc_arc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6916" y="1143000"/>
            <a:ext cx="6470168" cy="3474720"/>
          </a:xfrm>
          <a:prstGeom prst="rect">
            <a:avLst/>
          </a:prstGeom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pic>
      <p:sp>
        <p:nvSpPr>
          <p:cNvPr id="5" name="Shape 2"/>
          <p:cNvSpPr/>
          <p:nvPr/>
        </p:nvSpPr>
        <p:spPr>
          <a:xfrm>
            <a:off x="731520" y="4343400"/>
            <a:ext cx="7680960" cy="548640"/>
          </a:xfrm>
          <a:prstGeom prst="rect">
            <a:avLst/>
          </a:prstGeom>
          <a:solidFill>
            <a:srgbClr val="1A1A2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3"/>
          <p:cNvSpPr/>
          <p:nvPr/>
        </p:nvSpPr>
        <p:spPr>
          <a:xfrm>
            <a:off x="731520" y="434340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/ Express   •   MongoDB   •   HTML / CSS / Bootstrap   •   JavaScript   •   GitHub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C5F2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731520" y="32004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Work-in-Progress Demo</a:t>
            </a:r>
            <a:endParaRPr lang="en-US" sz="3600" dirty="0">
              <a:solidFill>
                <a:srgbClr val="2C5F2D"/>
              </a:solidFill>
            </a:endParaRPr>
          </a:p>
        </p:txBody>
      </p:sp>
      <p:sp>
        <p:nvSpPr>
          <p:cNvPr id="4" name="Shape 2"/>
          <p:cNvSpPr/>
          <p:nvPr/>
        </p:nvSpPr>
        <p:spPr>
          <a:xfrm>
            <a:off x="731520" y="1188720"/>
            <a:ext cx="7680960" cy="6858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353312"/>
            <a:ext cx="320040" cy="3200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17320" y="12344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Structure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1417320" y="153619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MVC folder organization (models/, views/, controllers/, routes/)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6858000" y="1371600"/>
            <a:ext cx="1280160" cy="320040"/>
          </a:xfrm>
          <a:prstGeom prst="rect">
            <a:avLst/>
          </a:prstGeom>
          <a:solidFill>
            <a:srgbClr val="2C5F2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/>
          <p:nvPr/>
        </p:nvSpPr>
        <p:spPr>
          <a:xfrm>
            <a:off x="6858000" y="137160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731520" y="2057400"/>
            <a:ext cx="7680960" cy="6858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2221992"/>
            <a:ext cx="320040" cy="32004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417320" y="21031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Up / Registration Page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1417320" y="240487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form with Bootstrap styling (FR-01, FR-02)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6858000" y="2240280"/>
            <a:ext cx="1280160" cy="320040"/>
          </a:xfrm>
          <a:prstGeom prst="rect">
            <a:avLst/>
          </a:prstGeom>
          <a:solidFill>
            <a:srgbClr val="F5C54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1"/>
          <p:cNvSpPr/>
          <p:nvPr/>
        </p:nvSpPr>
        <p:spPr>
          <a:xfrm>
            <a:off x="6858000" y="224028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Progress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731520" y="2926080"/>
            <a:ext cx="7680960" cy="6858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3090672"/>
            <a:ext cx="320040" cy="32004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417320" y="29718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Schema</a:t>
            </a:r>
            <a:endParaRPr lang="en-US" sz="1500" dirty="0"/>
          </a:p>
        </p:txBody>
      </p:sp>
      <p:sp>
        <p:nvSpPr>
          <p:cNvPr id="19" name="Text 14"/>
          <p:cNvSpPr/>
          <p:nvPr/>
        </p:nvSpPr>
        <p:spPr>
          <a:xfrm>
            <a:off x="1417320" y="32735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connection setup and initial schema design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6858000" y="3108960"/>
            <a:ext cx="1280160" cy="320040"/>
          </a:xfrm>
          <a:prstGeom prst="rect">
            <a:avLst/>
          </a:prstGeom>
          <a:solidFill>
            <a:srgbClr val="F5C54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6"/>
          <p:cNvSpPr/>
          <p:nvPr/>
        </p:nvSpPr>
        <p:spPr>
          <a:xfrm>
            <a:off x="6858000" y="310896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Progress</a:t>
            </a:r>
            <a:endParaRPr lang="en-US" sz="1000" dirty="0"/>
          </a:p>
        </p:txBody>
      </p:sp>
      <p:sp>
        <p:nvSpPr>
          <p:cNvPr id="22" name="Shape 17"/>
          <p:cNvSpPr/>
          <p:nvPr/>
        </p:nvSpPr>
        <p:spPr>
          <a:xfrm>
            <a:off x="731520" y="3794760"/>
            <a:ext cx="7680960" cy="6858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3959352"/>
            <a:ext cx="320040" cy="32004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417320" y="38404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Repository</a:t>
            </a:r>
            <a:endParaRPr lang="en-US" sz="1500" dirty="0"/>
          </a:p>
        </p:txBody>
      </p:sp>
      <p:sp>
        <p:nvSpPr>
          <p:cNvPr id="25" name="Text 19"/>
          <p:cNvSpPr/>
          <p:nvPr/>
        </p:nvSpPr>
        <p:spPr>
          <a:xfrm>
            <a:off x="1417320" y="414223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control, Kanban board, and documentation</a:t>
            </a:r>
            <a:endParaRPr lang="en-US" sz="1100" dirty="0"/>
          </a:p>
        </p:txBody>
      </p:sp>
      <p:sp>
        <p:nvSpPr>
          <p:cNvPr id="26" name="Shape 20"/>
          <p:cNvSpPr/>
          <p:nvPr/>
        </p:nvSpPr>
        <p:spPr>
          <a:xfrm>
            <a:off x="6858000" y="3977640"/>
            <a:ext cx="1280160" cy="320040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Text 21"/>
          <p:cNvSpPr/>
          <p:nvPr/>
        </p:nvSpPr>
        <p:spPr>
          <a:xfrm>
            <a:off x="6858000" y="397764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</a:t>
            </a:r>
            <a:endParaRPr lang="en-US" sz="1000" dirty="0"/>
          </a:p>
        </p:txBody>
      </p:sp>
      <p:sp>
        <p:nvSpPr>
          <p:cNvPr id="28" name="Text 22"/>
          <p:cNvSpPr/>
          <p:nvPr/>
        </p:nvSpPr>
        <p:spPr>
          <a:xfrm>
            <a:off x="731520" y="457200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[LIVE DEMO HERE]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C5F2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731520" y="32004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Next Week’s Plan</a:t>
            </a:r>
            <a:endParaRPr lang="en-US" sz="3600" dirty="0">
              <a:solidFill>
                <a:srgbClr val="2C5F2D"/>
              </a:solidFill>
            </a:endParaRPr>
          </a:p>
        </p:txBody>
      </p:sp>
      <p:sp>
        <p:nvSpPr>
          <p:cNvPr id="4" name="Shape 2"/>
          <p:cNvSpPr/>
          <p:nvPr/>
        </p:nvSpPr>
        <p:spPr>
          <a:xfrm>
            <a:off x="731520" y="1097280"/>
            <a:ext cx="7680960" cy="5943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914400" y="1188720"/>
            <a:ext cx="411480" cy="411480"/>
          </a:xfrm>
          <a:prstGeom prst="ellipse">
            <a:avLst/>
          </a:prstGeom>
          <a:solidFill>
            <a:srgbClr val="2C5F2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914400" y="11887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508760" y="1115568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Sync Meeting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508760" y="1399032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Clearly assign task ownership, eliminate confusion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675120" y="118872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31520" y="1847088"/>
            <a:ext cx="7680960" cy="5943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914400" y="1938528"/>
            <a:ext cx="411480" cy="411480"/>
          </a:xfrm>
          <a:prstGeom prst="ellipse">
            <a:avLst/>
          </a:prstGeom>
          <a:solidFill>
            <a:srgbClr val="2C5F2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914400" y="193852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508760" y="1865376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Backend (FR-01–FR-03)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508760" y="214884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Login, registration, session management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675120" y="1938528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Ethan + Thomas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31520" y="2596896"/>
            <a:ext cx="7680960" cy="5943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914400" y="2688336"/>
            <a:ext cx="411480" cy="411480"/>
          </a:xfrm>
          <a:prstGeom prst="ellipse">
            <a:avLst/>
          </a:prstGeom>
          <a:solidFill>
            <a:srgbClr val="2C5F2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914400" y="268833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508760" y="2615184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CRUD (FR-04–FR-07)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508760" y="2898648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Add, update, delete, mark availability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675120" y="2688336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Ishan + Bushra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731520" y="3346704"/>
            <a:ext cx="7680960" cy="5943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>
            <a:off x="914400" y="3438144"/>
            <a:ext cx="411480" cy="411480"/>
          </a:xfrm>
          <a:prstGeom prst="ellipse">
            <a:avLst/>
          </a:prstGeom>
          <a:solidFill>
            <a:srgbClr val="2C5F2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914400" y="343814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508760" y="3364992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Dashboard (FR-08–FR-10)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1508760" y="3648456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Cross-location inventory view, expiry alerts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675120" y="3438144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Shivam (flex)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731520" y="4096512"/>
            <a:ext cx="7680960" cy="5943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9" name="Shape 27"/>
          <p:cNvSpPr/>
          <p:nvPr/>
        </p:nvSpPr>
        <p:spPr>
          <a:xfrm>
            <a:off x="914400" y="4187952"/>
            <a:ext cx="411480" cy="411480"/>
          </a:xfrm>
          <a:prstGeom prst="ellipse">
            <a:avLst/>
          </a:prstGeom>
          <a:solidFill>
            <a:srgbClr val="2C5F2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914400" y="418795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1508760" y="411480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 Check-ins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1508760" y="4398264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progress, catch blockers early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675120" y="4187952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C5F2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731520" y="32004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Self-Reflection</a:t>
            </a:r>
            <a:endParaRPr lang="en-US" sz="3600" dirty="0">
              <a:solidFill>
                <a:srgbClr val="2C5F2D"/>
              </a:solidFill>
            </a:endParaRPr>
          </a:p>
        </p:txBody>
      </p:sp>
      <p:sp>
        <p:nvSpPr>
          <p:cNvPr id="4" name="Shape 2"/>
          <p:cNvSpPr/>
          <p:nvPr/>
        </p:nvSpPr>
        <p:spPr>
          <a:xfrm>
            <a:off x="731520" y="1097280"/>
            <a:ext cx="3840480" cy="16916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731520" y="1097280"/>
            <a:ext cx="73152" cy="1691640"/>
          </a:xfrm>
          <a:prstGeom prst="rect">
            <a:avLst/>
          </a:prstGeom>
          <a:solidFill>
            <a:srgbClr val="2C5F2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960120" y="118872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did we feel?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60120" y="1554480"/>
            <a:ext cx="33832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conflicts made this week stressful, but seeing the registration page come together was motivating. We wish we had more time to commit to development.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892040" y="1097280"/>
            <a:ext cx="3840480" cy="16916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4892040" y="1097280"/>
            <a:ext cx="73152" cy="1691640"/>
          </a:xfrm>
          <a:prstGeom prst="rect">
            <a:avLst/>
          </a:prstGeom>
          <a:solidFill>
            <a:srgbClr val="2C5F2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5120640" y="118872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are we proud of?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120640" y="1554480"/>
            <a:ext cx="33832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Despite limited availability, Ishan and Bushra delivered frontend work, and Ethan moved the database setup forward. The team kept going without Shivam being present.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31520" y="2971800"/>
            <a:ext cx="3840480" cy="16916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731520" y="2971800"/>
            <a:ext cx="73152" cy="1691640"/>
          </a:xfrm>
          <a:prstGeom prst="rect">
            <a:avLst/>
          </a:prstGeom>
          <a:solidFill>
            <a:srgbClr val="2C5F2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960120" y="306324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did we learn?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960120" y="3429000"/>
            <a:ext cx="33832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task ownership matters. When the lead is absent and assignments are vague, progress slows. We also learned that academic schedules need to be factored into sprint planning.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892040" y="2971800"/>
            <a:ext cx="3840480" cy="16916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4892040" y="2971800"/>
            <a:ext cx="73152" cy="1691640"/>
          </a:xfrm>
          <a:prstGeom prst="rect">
            <a:avLst/>
          </a:prstGeom>
          <a:solidFill>
            <a:srgbClr val="2C5F2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5120640" y="306324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Going forward?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120640" y="3429000"/>
            <a:ext cx="33832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will build in buffer time for academic conflicts, hold structured check-ins, and make sure every task has a single owner before a sprint starts.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C5F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97BC6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731520" y="228600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0" y="3017520"/>
            <a:ext cx="2743200" cy="36576"/>
          </a:xfrm>
          <a:prstGeom prst="rect">
            <a:avLst/>
          </a:prstGeom>
          <a:solidFill>
            <a:srgbClr val="97BC6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731520" y="338328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github.com/bshra7/Inventory-Management-System-for-Food-Banks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31520" y="384048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PantriHub  |  ENSE 281  |  March 2026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b256b8bf-711b-4a88-aaa9-949ef2dceef7">
      <Terms xmlns="http://schemas.microsoft.com/office/infopath/2007/PartnerControls"/>
    </lcf76f155ced4ddcb4097134ff3c332f>
    <TaxCatchAll xmlns="a3cc7b55-ce28-41dd-8654-e16abf950a08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B4A39976912FA43A5372E9E3E4FEA0D" ma:contentTypeVersion="10" ma:contentTypeDescription="Create a new document." ma:contentTypeScope="" ma:versionID="2436e4c3094b40d7ce86ce8ffe8f54c4">
  <xsd:schema xmlns:xsd="http://www.w3.org/2001/XMLSchema" xmlns:xs="http://www.w3.org/2001/XMLSchema" xmlns:p="http://schemas.microsoft.com/office/2006/metadata/properties" xmlns:ns2="b256b8bf-711b-4a88-aaa9-949ef2dceef7" xmlns:ns3="a3cc7b55-ce28-41dd-8654-e16abf950a08" targetNamespace="http://schemas.microsoft.com/office/2006/metadata/properties" ma:root="true" ma:fieldsID="b7affe3f4c704e8262ed3ed58d1cb3eb" ns2:_="" ns3:_="">
    <xsd:import namespace="b256b8bf-711b-4a88-aaa9-949ef2dceef7"/>
    <xsd:import namespace="a3cc7b55-ce28-41dd-8654-e16abf950a0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256b8bf-711b-4a88-aaa9-949ef2dceef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a7d72d0b-698f-4d82-adcb-8a7f6eb721d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3cc7b55-ce28-41dd-8654-e16abf950a08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f0f86bc7-7655-4a59-a1ce-1eb2cbd3070e}" ma:internalName="TaxCatchAll" ma:showField="CatchAllData" ma:web="a3cc7b55-ce28-41dd-8654-e16abf950a08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4A1436B-2581-44D2-A158-8E056019F009}">
  <ds:schemaRefs>
    <ds:schemaRef ds:uri="http://schemas.microsoft.com/office/2006/metadata/properties"/>
    <ds:schemaRef ds:uri="http://schemas.microsoft.com/office/infopath/2007/PartnerControls"/>
    <ds:schemaRef ds:uri="b256b8bf-711b-4a88-aaa9-949ef2dceef7"/>
    <ds:schemaRef ds:uri="a3cc7b55-ce28-41dd-8654-e16abf950a08"/>
  </ds:schemaRefs>
</ds:datastoreItem>
</file>

<file path=customXml/itemProps2.xml><?xml version="1.0" encoding="utf-8"?>
<ds:datastoreItem xmlns:ds="http://schemas.openxmlformats.org/officeDocument/2006/customXml" ds:itemID="{52AC09E6-6E88-4F4A-A188-F50D978DBBD7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8E600D02-A22C-4F0B-880A-DA6604872A7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256b8bf-711b-4a88-aaa9-949ef2dceef7"/>
    <ds:schemaRef ds:uri="a3cc7b55-ce28-41dd-8654-e16abf950a0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9</TotalTime>
  <Words>618</Words>
  <Application>Microsoft Office PowerPoint</Application>
  <PresentationFormat>On-screen Show (16:9)</PresentationFormat>
  <Paragraphs>126</Paragraphs>
  <Slides>11</Slides>
  <Notes>11</Notes>
  <HiddenSlides>0</HiddenSlides>
  <MMClips>0</MMClip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11</vt:i4>
      </vt:variant>
    </vt:vector>
  </HeadingPairs>
  <TitlesOfParts>
    <vt:vector size="13" baseType="lpstr">
      <vt:lpstr>Office 2013 - 2022 Theme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PantriHub - Sprint Progress Check-in</dc:title>
  <dc:subject>PptxGenJS Presentation</dc:subject>
  <dc:creator>Shivam Soni</dc:creator>
  <cp:lastModifiedBy>Shivam Soni</cp:lastModifiedBy>
  <cp:revision>3</cp:revision>
  <dcterms:created xsi:type="dcterms:W3CDTF">2026-03-18T16:09:15Z</dcterms:created>
  <dcterms:modified xsi:type="dcterms:W3CDTF">2026-03-18T18:56:49Z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0x010100EB4A39976912FA43A5372E9E3E4FEA0D</vt:lpwstr>
  </property>
</Properties>
</file>